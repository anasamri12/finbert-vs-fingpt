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9" r:id="rId8"/>
    <p:sldId id="270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82" d="100"/>
          <a:sy n="82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64F4-2785-130F-5C70-4D901CF86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62709-F007-CA20-1EF1-C2FFD3A8C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C058-3088-8F8E-95DD-E157CF96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AE552-7654-1E4A-FAEF-27518CED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097EB-7153-1704-F38B-5337628F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61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249E-EC25-C45C-93EB-108CFDBB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75D0F-24D4-ACE8-80E8-ACD4FBC14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B46B-FC10-FD4A-E603-86807A02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78338-BAEC-01E9-FF2B-5CC78213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6EB4-FED5-F0EB-04F8-E757A7FD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01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236D-7E2A-74D6-D604-0032EC96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9A04A-9F05-D3B0-5DB6-AE751C154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59B3A-3F11-1E0A-C9BE-69A73608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BF716-63EC-7A7F-4A87-E48D924E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177ED-3818-7505-CB75-1D383460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40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0810-364D-ED5D-B6AA-810F8512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02A6-22D2-101E-6427-3E1348249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31489-1BCF-AB4A-5D90-C4CA764A9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68908-0AFA-32F5-5825-69F0CD77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FCB78-AE80-B2B9-5D5F-66AC096B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9C0DD-EEF3-A115-C99E-68DEC46F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61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4275-0AF5-4B25-7BFD-1D33A0C3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01EDE-486C-1060-8044-8CCE8193E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1DAFE-1216-FC79-5942-007A3DF2A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028C8-6075-EC0C-16BD-9490EB9E0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1B5A99-4DB0-7F46-BA01-DF021E2FE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E24CF-C75C-0BE9-66BF-A2AAFD9B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5CBB4-E4FD-3BAC-50D0-C85415316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A846D-FBED-5518-A517-297E8047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54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34F5-25CE-C33D-12C6-C8C5AC97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428349-CF78-2423-E46D-BA153BF2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16586-2C49-B299-7E8A-2993F320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62BD9-26F6-F391-373A-EB882292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49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0D117-EEAB-E6B6-29C1-C48F9EA8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5170A0-EDAD-05D2-EB10-909D78DCD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65A53-2110-9A98-EDE4-DB37A094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46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5852-4CDA-7B81-0BA0-B855C2617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B60B0-5AE3-EF76-3F5B-FABD60329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BEC0E-2F94-0C39-4600-1DEBFE4D4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BF844-6F7C-CD02-A8A9-5FD7C016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B2CFC-2430-A73B-C088-DEC265C5B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380A0-AD01-643A-9470-A40B216B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27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E6D6-5C22-5403-95F3-C69F6024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D5E61-488C-D244-5B9D-439728CDC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CC785-8798-508A-314D-6D8E5CB52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C5BE4-EB8B-80C6-0442-23994124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50A11-75DA-7BCB-910A-AB8CE317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CF4B3-1584-EAB5-DB26-E55E520FB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41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FEE5F-0CBB-8AD8-7474-8987BF63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DB9CE-5768-DAC0-637D-88BADC54F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E56A-68A9-C5C8-8BD0-9F7B5138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C081F-96FD-3F8A-60F3-F1132807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A4BE-1DAA-E6C4-A36C-C455CC56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06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3FE2F-D465-A726-0978-A888C8C6B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729A7-07E0-53FC-96EB-83D7BF4CA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829F-9ACC-86BF-AF95-8DF7EF07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99354-32F9-3C33-7D27-2E9301BC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8F5B-B34D-5E0B-7E03-59FB4157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068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500" spc="-1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64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2286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4572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6858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91440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3000" spc="-3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00750" y="6350000"/>
            <a:ext cx="194311" cy="21463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484907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A9BD0-D643-7729-2069-A4AE1702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80F8D-CC2C-A9B2-798C-FEBD2C6E0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72533-0746-D00E-1C70-76279E6FC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97612-3C7D-1634-AAFD-BFE5346DE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90FBC-B040-45CD-8233-C639FA0E7BC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5C1A410-F349-58D2-A706-2833232F8954}"/>
              </a:ext>
            </a:extLst>
          </p:cNvPr>
          <p:cNvSpPr txBox="1">
            <a:spLocks/>
          </p:cNvSpPr>
          <p:nvPr userDrawn="1"/>
        </p:nvSpPr>
        <p:spPr>
          <a:xfrm>
            <a:off x="748048" y="629902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538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&lt;PROJECT_NAME&gt;…"/>
          <p:cNvSpPr txBox="1">
            <a:spLocks noGrp="1"/>
          </p:cNvSpPr>
          <p:nvPr>
            <p:ph type="ctrTitle"/>
          </p:nvPr>
        </p:nvSpPr>
        <p:spPr>
          <a:xfrm>
            <a:off x="609600" y="1771650"/>
            <a:ext cx="10972800" cy="451324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MY" sz="4400" dirty="0" err="1"/>
              <a:t>FinBERT</a:t>
            </a:r>
            <a:r>
              <a:rPr lang="en-MY" sz="4400" dirty="0"/>
              <a:t> vs </a:t>
            </a:r>
            <a:r>
              <a:rPr lang="en-MY" sz="4400" dirty="0" err="1"/>
              <a:t>FinGPT</a:t>
            </a:r>
            <a:r>
              <a:rPr lang="en-MY" sz="4400" dirty="0"/>
              <a:t>: Enhancing Malaysian Stock Predictions with News-Driven Insights</a:t>
            </a:r>
            <a:endParaRPr dirty="0"/>
          </a:p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r>
              <a:rPr lang="en-MY" dirty="0"/>
              <a:t>Anas Nik Adnan</a:t>
            </a:r>
            <a:endParaRPr dirty="0"/>
          </a:p>
          <a:p>
            <a:pPr defTabSz="228600">
              <a:lnSpc>
                <a:spcPct val="100000"/>
              </a:lnSpc>
              <a:defRPr sz="20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dirty="0"/>
              <a:t>Academic Supervisor: Prof Philip Treleaven</a:t>
            </a:r>
            <a:br>
              <a:rPr lang="en-US" sz="2000" dirty="0"/>
            </a:br>
            <a:r>
              <a:rPr lang="en-US" sz="2000" dirty="0"/>
              <a:t>Technical Advisor: </a:t>
            </a:r>
            <a:endParaRPr sz="2000"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207328" marR="1969452" defTabSz="228600">
              <a:lnSpc>
                <a:spcPct val="100000"/>
              </a:lnSpc>
              <a:defRPr sz="2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52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"/>
            <a:ext cx="12192000" cy="13411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search Motiva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414655" algn="l" defTabSz="4572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4400" dirty="0"/>
              <a:t>Research Motivations</a:t>
            </a:r>
          </a:p>
        </p:txBody>
      </p:sp>
      <p:pic>
        <p:nvPicPr>
          <p:cNvPr id="15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2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2</a:t>
            </a:r>
          </a:p>
        </p:txBody>
      </p:sp>
      <p:sp>
        <p:nvSpPr>
          <p:cNvPr id="157" name="Point 1…"/>
          <p:cNvSpPr txBox="1"/>
          <p:nvPr/>
        </p:nvSpPr>
        <p:spPr>
          <a:xfrm>
            <a:off x="609600" y="2011086"/>
            <a:ext cx="11154669" cy="3513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Why this problem?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Malaysia’s stock market influenced by political and financial news, but current models rarely account for this.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Sentiment analysis using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could help forecast market movements more accurately.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Challenges:</a:t>
            </a:r>
            <a:endParaRPr sz="1750" dirty="0"/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Lack of  Malaysian-focused sentiment models.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Integration of news sentiment wit stock time-series data.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 err="1"/>
              <a:t>FinBERT</a:t>
            </a:r>
            <a:r>
              <a:rPr lang="en-MY" sz="1750" dirty="0"/>
              <a:t> is pre-trained on US data while </a:t>
            </a:r>
            <a:r>
              <a:rPr lang="en-MY" sz="1750" dirty="0" err="1"/>
              <a:t>FinGPT</a:t>
            </a:r>
            <a:r>
              <a:rPr lang="en-MY" sz="1750" dirty="0"/>
              <a:t> can be fine-tuned but needs testing.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Industry Background and Publica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Industry Background and Publications</a:t>
            </a:r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60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3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3</a:t>
            </a:r>
          </a:p>
        </p:txBody>
      </p:sp>
      <p:sp>
        <p:nvSpPr>
          <p:cNvPr id="162" name="Industry background…"/>
          <p:cNvSpPr txBox="1"/>
          <p:nvPr/>
        </p:nvSpPr>
        <p:spPr>
          <a:xfrm>
            <a:off x="626533" y="1966309"/>
            <a:ext cx="11582400" cy="4603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588328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sz="1750" b="1" dirty="0"/>
              <a:t>Industry background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Financial sentiment analysis is gaining traction in algo-trading.</a:t>
            </a:r>
            <a:endParaRPr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News-driven models are used by hedge funds, quant researchers, and fintech companies</a:t>
            </a:r>
            <a:endParaRPr sz="1750" dirty="0"/>
          </a:p>
          <a:p>
            <a:pPr marL="588328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b="1" dirty="0"/>
              <a:t>Key</a:t>
            </a:r>
            <a:r>
              <a:rPr sz="1750" b="1" dirty="0"/>
              <a:t> publications 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>
                <a:sym typeface="Arial"/>
              </a:rPr>
              <a:t>Chuan, Tan Boon, </a:t>
            </a:r>
            <a:r>
              <a:rPr lang="en-MY" sz="1750" dirty="0" err="1">
                <a:sym typeface="Arial"/>
              </a:rPr>
              <a:t>Vazeerudeen</a:t>
            </a:r>
            <a:r>
              <a:rPr lang="en-MY" sz="1750" dirty="0">
                <a:sym typeface="Arial"/>
              </a:rPr>
              <a:t> Abdul Hameed, and Chandra Reka </a:t>
            </a:r>
            <a:r>
              <a:rPr lang="en-MY" sz="1750" dirty="0" err="1">
                <a:sym typeface="Arial"/>
              </a:rPr>
              <a:t>Ramachandiran</a:t>
            </a:r>
            <a:r>
              <a:rPr lang="en-MY" sz="1750" dirty="0">
                <a:sym typeface="Arial"/>
              </a:rPr>
              <a:t>. "Malaysia stock market prediction using artificial intelligence." </a:t>
            </a:r>
            <a:r>
              <a:rPr lang="en-MY" sz="1750" i="1" dirty="0">
                <a:sym typeface="Arial"/>
              </a:rPr>
              <a:t>Journal of Applied Technology and Innovation (e-ISSN: 2600-7304)</a:t>
            </a:r>
            <a:r>
              <a:rPr lang="en-MY" sz="1750" dirty="0">
                <a:sym typeface="Arial"/>
              </a:rPr>
              <a:t> 5.1 (2021): 32.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>
                <a:sym typeface="Arial"/>
              </a:rPr>
              <a:t>Kang, Ji-Won, and Sun-Yong Choi. "Comparative investigation of </a:t>
            </a:r>
            <a:r>
              <a:rPr lang="en-US" sz="1750" dirty="0" err="1">
                <a:sym typeface="Arial"/>
              </a:rPr>
              <a:t>gpt</a:t>
            </a:r>
            <a:r>
              <a:rPr lang="en-US" sz="1750" dirty="0">
                <a:sym typeface="Arial"/>
              </a:rPr>
              <a:t> and </a:t>
            </a:r>
            <a:r>
              <a:rPr lang="en-US" sz="1750" dirty="0" err="1">
                <a:sym typeface="Arial"/>
              </a:rPr>
              <a:t>finbert’s</a:t>
            </a:r>
            <a:r>
              <a:rPr lang="en-US" sz="1750" dirty="0">
                <a:sym typeface="Arial"/>
              </a:rPr>
              <a:t> sentiment analysis performance in news across different sectors." </a:t>
            </a:r>
            <a:r>
              <a:rPr lang="en-US" sz="1750" i="1" dirty="0">
                <a:sym typeface="Arial"/>
              </a:rPr>
              <a:t>Electronics</a:t>
            </a:r>
            <a:r>
              <a:rPr lang="en-US" sz="1750" dirty="0">
                <a:sym typeface="Arial"/>
              </a:rPr>
              <a:t> 14.6 (2025): 1090.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 err="1">
                <a:sym typeface="Arial"/>
              </a:rPr>
              <a:t>jun</a:t>
            </a:r>
            <a:r>
              <a:rPr lang="en-US" sz="1750" dirty="0">
                <a:sym typeface="Arial"/>
              </a:rPr>
              <a:t> Gu, Wen, et al. "Predicting stock prices with </a:t>
            </a:r>
            <a:r>
              <a:rPr lang="en-US" sz="1750" dirty="0" err="1">
                <a:sym typeface="Arial"/>
              </a:rPr>
              <a:t>finbert-lstm</a:t>
            </a:r>
            <a:r>
              <a:rPr lang="en-US" sz="1750" dirty="0">
                <a:sym typeface="Arial"/>
              </a:rPr>
              <a:t>: Integrating news sentiment analysis." </a:t>
            </a:r>
            <a:r>
              <a:rPr lang="en-US" sz="1750" i="1" dirty="0">
                <a:sym typeface="Arial"/>
              </a:rPr>
              <a:t>Proceedings of the 2024 8th International Conference on Cloud and Big Data Computing</a:t>
            </a:r>
            <a:r>
              <a:rPr lang="en-US" sz="1750" dirty="0">
                <a:sym typeface="Arial"/>
              </a:rPr>
              <a:t>. 2024.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search Objective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>
            <a:normAutofit/>
          </a:bodyPr>
          <a:lstStyle>
            <a:lvl1pPr marL="414655" algn="l" defTabSz="4572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4400" dirty="0"/>
              <a:t>Research Objectives</a:t>
            </a:r>
          </a:p>
        </p:txBody>
      </p:sp>
      <p:pic>
        <p:nvPicPr>
          <p:cNvPr id="16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4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4</a:t>
            </a:r>
          </a:p>
        </p:txBody>
      </p:sp>
      <p:sp>
        <p:nvSpPr>
          <p:cNvPr id="167" name="Point 1…"/>
          <p:cNvSpPr txBox="1"/>
          <p:nvPr/>
        </p:nvSpPr>
        <p:spPr>
          <a:xfrm>
            <a:off x="609600" y="2136440"/>
            <a:ext cx="11189282" cy="2705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Compare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on sentiment analysis of Malaysian news.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Evaluate impact of sentiment on KLSE stock price movements (daily returns, volatility)</a:t>
            </a:r>
            <a:endParaRPr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Combine sentiment features with time-series data for price prediction.</a:t>
            </a:r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Build and benchmark multiple prediction models: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LSTM/GRU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Sentiment-enhanced models</a:t>
            </a:r>
          </a:p>
          <a:p>
            <a:pPr marL="1045528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 err="1"/>
              <a:t>FinGPT</a:t>
            </a:r>
            <a:r>
              <a:rPr lang="en-MY" sz="1750" dirty="0"/>
              <a:t>-augmented transformer models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search Methodology &amp; Structure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Research Methodology &amp; Structure</a:t>
            </a:r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0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5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5</a:t>
            </a:r>
          </a:p>
        </p:txBody>
      </p:sp>
      <p:sp>
        <p:nvSpPr>
          <p:cNvPr id="172" name="Point 1…"/>
          <p:cNvSpPr txBox="1"/>
          <p:nvPr/>
        </p:nvSpPr>
        <p:spPr>
          <a:xfrm>
            <a:off x="609600" y="2109123"/>
            <a:ext cx="12752274" cy="3983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b="1" dirty="0"/>
              <a:t>Exp</a:t>
            </a:r>
            <a:r>
              <a:rPr sz="1750" b="1" dirty="0"/>
              <a:t> 1</a:t>
            </a:r>
            <a:r>
              <a:rPr lang="en-US" sz="1750" b="1" dirty="0"/>
              <a:t>: Sentiment Model Benchmarking</a:t>
            </a:r>
            <a:endParaRPr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Compare </a:t>
            </a:r>
            <a:r>
              <a:rPr lang="en-MY" sz="1750" dirty="0" err="1"/>
              <a:t>FinBERT</a:t>
            </a:r>
            <a:r>
              <a:rPr lang="en-MY" sz="1750" dirty="0"/>
              <a:t> and </a:t>
            </a:r>
            <a:r>
              <a:rPr lang="en-MY" sz="1750" dirty="0" err="1"/>
              <a:t>FinGPT</a:t>
            </a:r>
            <a:r>
              <a:rPr lang="en-MY" sz="1750" dirty="0"/>
              <a:t> in extracting sentiment from Malaysian financial and political news.</a:t>
            </a:r>
            <a:endParaRPr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Evaluate model output on labelled samples (qualitative + quantitative)</a:t>
            </a:r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b="1" dirty="0" err="1"/>
              <a:t>Exp</a:t>
            </a:r>
            <a:r>
              <a:rPr lang="fr-FR" sz="1750" b="1" dirty="0"/>
              <a:t> 2: Sentiment vs Stock </a:t>
            </a:r>
            <a:r>
              <a:rPr lang="fr-FR" sz="1750" b="1" dirty="0" err="1"/>
              <a:t>Movement</a:t>
            </a:r>
            <a:endParaRPr lang="fr-FR"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Investigate</a:t>
            </a:r>
            <a:r>
              <a:rPr lang="fr-FR" sz="1750" dirty="0"/>
              <a:t> the </a:t>
            </a:r>
            <a:r>
              <a:rPr lang="fr-FR" sz="1750" dirty="0" err="1"/>
              <a:t>effect</a:t>
            </a:r>
            <a:r>
              <a:rPr lang="fr-FR" sz="1750" dirty="0"/>
              <a:t> of </a:t>
            </a:r>
            <a:r>
              <a:rPr lang="fr-FR" sz="1750" dirty="0" err="1"/>
              <a:t>daily</a:t>
            </a:r>
            <a:r>
              <a:rPr lang="fr-FR" sz="1750" dirty="0"/>
              <a:t> sentiment on KLSE stock </a:t>
            </a:r>
            <a:r>
              <a:rPr lang="fr-FR" sz="1750" dirty="0" err="1"/>
              <a:t>returns</a:t>
            </a:r>
            <a:r>
              <a:rPr lang="fr-FR" sz="1750" dirty="0"/>
              <a:t> and </a:t>
            </a:r>
            <a:r>
              <a:rPr lang="fr-FR" sz="1750" dirty="0" err="1"/>
              <a:t>volatility</a:t>
            </a:r>
            <a:endParaRPr lang="fr-FR"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Conduct</a:t>
            </a:r>
            <a:r>
              <a:rPr lang="fr-FR" sz="1750" dirty="0"/>
              <a:t> lag </a:t>
            </a:r>
            <a:r>
              <a:rPr lang="fr-FR" sz="1750" dirty="0" err="1"/>
              <a:t>analysis</a:t>
            </a:r>
            <a:r>
              <a:rPr lang="fr-FR" sz="1750" dirty="0"/>
              <a:t>: T, T+1, T+2 </a:t>
            </a:r>
            <a:r>
              <a:rPr lang="fr-FR" sz="1750" dirty="0" err="1"/>
              <a:t>with</a:t>
            </a:r>
            <a:r>
              <a:rPr lang="fr-FR" sz="1750" dirty="0"/>
              <a:t> </a:t>
            </a:r>
            <a:r>
              <a:rPr lang="fr-FR" sz="1750" dirty="0" err="1"/>
              <a:t>regression</a:t>
            </a:r>
            <a:r>
              <a:rPr lang="fr-FR" sz="1750" dirty="0"/>
              <a:t> &amp; </a:t>
            </a:r>
            <a:r>
              <a:rPr lang="fr-FR" sz="1750" dirty="0" err="1"/>
              <a:t>correlation</a:t>
            </a:r>
            <a:r>
              <a:rPr lang="fr-FR" sz="1750" dirty="0"/>
              <a:t> </a:t>
            </a:r>
            <a:r>
              <a:rPr lang="fr-FR" sz="1750" dirty="0" err="1"/>
              <a:t>metrics</a:t>
            </a:r>
            <a:endParaRPr lang="fr-FR" sz="1750" dirty="0"/>
          </a:p>
          <a:p>
            <a:pPr marL="588328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b="1" dirty="0" err="1"/>
              <a:t>Exp</a:t>
            </a:r>
            <a:r>
              <a:rPr lang="fr-FR" sz="1750" b="1" dirty="0"/>
              <a:t> 3: Stock </a:t>
            </a:r>
            <a:r>
              <a:rPr lang="fr-FR" sz="1750" b="1" dirty="0" err="1"/>
              <a:t>Prediction</a:t>
            </a:r>
            <a:r>
              <a:rPr lang="fr-FR" sz="1750" b="1" dirty="0"/>
              <a:t> </a:t>
            </a:r>
            <a:r>
              <a:rPr lang="fr-FR" sz="1750" b="1" dirty="0" err="1"/>
              <a:t>Models</a:t>
            </a:r>
            <a:endParaRPr lang="fr-FR" sz="1750" b="1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 err="1"/>
              <a:t>Build</a:t>
            </a:r>
            <a:r>
              <a:rPr lang="fr-FR" sz="1750" dirty="0"/>
              <a:t> time-</a:t>
            </a:r>
            <a:r>
              <a:rPr lang="fr-FR" sz="1750" dirty="0" err="1"/>
              <a:t>series</a:t>
            </a:r>
            <a:r>
              <a:rPr lang="fr-FR" sz="1750" dirty="0"/>
              <a:t> </a:t>
            </a:r>
            <a:r>
              <a:rPr lang="fr-FR" sz="1750" dirty="0" err="1"/>
              <a:t>prediction</a:t>
            </a:r>
            <a:r>
              <a:rPr lang="fr-FR" sz="1750" dirty="0"/>
              <a:t> </a:t>
            </a:r>
            <a:r>
              <a:rPr lang="fr-FR" sz="1750" dirty="0" err="1"/>
              <a:t>models</a:t>
            </a:r>
            <a:r>
              <a:rPr lang="fr-FR" sz="1750" dirty="0"/>
              <a:t> </a:t>
            </a:r>
            <a:r>
              <a:rPr lang="fr-FR" sz="1750" dirty="0" err="1"/>
              <a:t>with</a:t>
            </a:r>
            <a:r>
              <a:rPr lang="fr-FR" sz="1750" dirty="0"/>
              <a:t> and </a:t>
            </a:r>
            <a:r>
              <a:rPr lang="fr-FR" sz="1750" dirty="0" err="1"/>
              <a:t>without</a:t>
            </a:r>
            <a:r>
              <a:rPr lang="fr-FR" sz="1750" dirty="0"/>
              <a:t> sentiment </a:t>
            </a:r>
            <a:r>
              <a:rPr lang="fr-FR" sz="1750" dirty="0" err="1"/>
              <a:t>features</a:t>
            </a:r>
            <a:endParaRPr lang="fr-FR" sz="1750" dirty="0"/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fr-FR" sz="1750" dirty="0"/>
              <a:t>Compare </a:t>
            </a:r>
            <a:r>
              <a:rPr lang="fr-FR" sz="1750" dirty="0" err="1"/>
              <a:t>baseline</a:t>
            </a:r>
            <a:r>
              <a:rPr lang="fr-FR" sz="1750" dirty="0"/>
              <a:t> vs </a:t>
            </a:r>
            <a:r>
              <a:rPr lang="fr-FR" sz="1750" dirty="0" err="1"/>
              <a:t>FinBERT-enhanced</a:t>
            </a:r>
            <a:r>
              <a:rPr lang="fr-FR" sz="1750" dirty="0"/>
              <a:t> vs </a:t>
            </a:r>
            <a:r>
              <a:rPr lang="fr-FR" sz="1750" dirty="0" err="1"/>
              <a:t>FinGPT-enhanced</a:t>
            </a:r>
            <a:r>
              <a:rPr lang="fr-FR" sz="1750" dirty="0"/>
              <a:t> </a:t>
            </a:r>
            <a:r>
              <a:rPr lang="fr-FR" sz="1750" dirty="0" err="1"/>
              <a:t>models</a:t>
            </a:r>
            <a:r>
              <a:rPr lang="fr-FR" sz="1750" dirty="0"/>
              <a:t>.</a:t>
            </a:r>
          </a:p>
          <a:p>
            <a:pPr marL="404177" marR="1969452" indent="-381000" defTabSz="228600">
              <a:lnSpc>
                <a:spcPct val="150000"/>
              </a:lnSpc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endParaRPr sz="175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1:</a:t>
            </a:r>
            <a:r>
              <a:rPr lang="en-US" sz="4400" dirty="0"/>
              <a:t> </a:t>
            </a:r>
            <a:r>
              <a:rPr lang="en-MY" sz="4400" dirty="0"/>
              <a:t>Sentiment Model Benchmarking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61115" y="2235502"/>
            <a:ext cx="6108396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Benchmark sentiment classification capability of </a:t>
            </a:r>
            <a:r>
              <a:rPr lang="en-GB" dirty="0" err="1"/>
              <a:t>FinBERT</a:t>
            </a:r>
            <a:r>
              <a:rPr lang="en-GB" dirty="0"/>
              <a:t> and </a:t>
            </a:r>
            <a:r>
              <a:rPr lang="en-GB" dirty="0" err="1"/>
              <a:t>FinGPT</a:t>
            </a:r>
            <a:r>
              <a:rPr lang="en-GB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both zero-shot and fine-tuned versions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Compare contextual relevance and polarity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61115" y="4145550"/>
            <a:ext cx="6056879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Curated Malaysian financial/political news headlines (scraped or collected from sources like The Star, NST, Malaysiakini)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Small manually annotated subset (positive/negative/neutral sentiment)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093973" y="2249294"/>
            <a:ext cx="3967317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err="1"/>
              <a:t>FinBERT</a:t>
            </a:r>
            <a:r>
              <a:rPr lang="en-GB" dirty="0"/>
              <a:t> (zero-shot + optional fine-tune)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err="1"/>
              <a:t>FinGPT</a:t>
            </a:r>
            <a:r>
              <a:rPr lang="en-GB" dirty="0"/>
              <a:t> (financial LLM) with inference on same news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6931742" y="4145550"/>
            <a:ext cx="4129548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F1-score, precision, recall </a:t>
            </a:r>
            <a:r>
              <a:rPr lang="en-GB" dirty="0" err="1"/>
              <a:t>comaprison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Examples where </a:t>
            </a:r>
            <a:r>
              <a:rPr lang="en-GB" dirty="0" err="1"/>
              <a:t>FinGPT</a:t>
            </a:r>
            <a:r>
              <a:rPr lang="en-GB" dirty="0"/>
              <a:t> captures better context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bar chart of accuracy comparison per class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768710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</a:t>
            </a:r>
            <a:r>
              <a:rPr lang="en-US" sz="4400" dirty="0"/>
              <a:t>2</a:t>
            </a:r>
            <a:r>
              <a:rPr sz="4400" dirty="0"/>
              <a:t>:</a:t>
            </a:r>
            <a:r>
              <a:rPr lang="en-US" sz="4400" dirty="0"/>
              <a:t> </a:t>
            </a:r>
            <a:r>
              <a:rPr lang="en-MY" sz="4400" dirty="0"/>
              <a:t>Sentiment vs Stock Movement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61114" y="2462151"/>
            <a:ext cx="6196886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Test correlation between daily sentiment score and stock returns (next-day, 2-day, etc.)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Use both collected daily sentiment and stock movement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61114" y="4266826"/>
            <a:ext cx="578102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Daily sentiment scores from Exp 1 outputs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Historical data from Yahoo Finance API for selected Malaysian top companies' stock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189883" y="2462151"/>
            <a:ext cx="4572407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Pearson/Spearman correlation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Linear regression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Granger causality test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6754761" y="4266826"/>
            <a:ext cx="5007529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Correlation strength over different lags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Line plot of sentiment vs stock  return trend, lag correlation heatmap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7661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xperiment 1: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Exp </a:t>
            </a:r>
            <a:r>
              <a:rPr lang="en-US" sz="4400" dirty="0"/>
              <a:t>3</a:t>
            </a:r>
            <a:r>
              <a:rPr sz="4400" dirty="0"/>
              <a:t>:</a:t>
            </a:r>
            <a:r>
              <a:rPr lang="en-US" sz="4400" dirty="0"/>
              <a:t> Stock Price Prediction Models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75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6"/>
          <p:cNvSpPr txBox="1"/>
          <p:nvPr/>
        </p:nvSpPr>
        <p:spPr>
          <a:xfrm>
            <a:off x="11540759" y="6198422"/>
            <a:ext cx="4572406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0DB0C-BFAE-8DF0-2583-C97C57A67D21}"/>
              </a:ext>
            </a:extLst>
          </p:cNvPr>
          <p:cNvSpPr txBox="1"/>
          <p:nvPr/>
        </p:nvSpPr>
        <p:spPr>
          <a:xfrm>
            <a:off x="609600" y="2335213"/>
            <a:ext cx="6292645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Experiment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Train and evaluate predictive models for stock prices using different inputs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Perform feature engineering on historical stock data: moving average, RSI, MACD, daily returns, volatility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Compare performance between models using no sentiment, </a:t>
            </a:r>
            <a:r>
              <a:rPr lang="en-GB" dirty="0" err="1"/>
              <a:t>FinBERT</a:t>
            </a:r>
            <a:r>
              <a:rPr lang="en-GB" dirty="0"/>
              <a:t> sentiment, </a:t>
            </a:r>
            <a:r>
              <a:rPr lang="en-GB" dirty="0" err="1"/>
              <a:t>FinGPT</a:t>
            </a:r>
            <a:r>
              <a:rPr lang="en-GB" dirty="0"/>
              <a:t> sentiment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5AC4-2787-C0B1-CCED-AC5A20E4228F}"/>
              </a:ext>
            </a:extLst>
          </p:cNvPr>
          <p:cNvSpPr txBox="1"/>
          <p:nvPr/>
        </p:nvSpPr>
        <p:spPr>
          <a:xfrm>
            <a:off x="609601" y="4799840"/>
            <a:ext cx="4414690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Historical stock data + engineered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Sentiment scores from Exp 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Train-test split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985D8-48E6-2994-9836-BB5CAD544348}"/>
              </a:ext>
            </a:extLst>
          </p:cNvPr>
          <p:cNvSpPr txBox="1"/>
          <p:nvPr/>
        </p:nvSpPr>
        <p:spPr>
          <a:xfrm>
            <a:off x="7211962" y="2335213"/>
            <a:ext cx="4123316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Models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 or GRU baseline (price features only)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LSTM/GRU + </a:t>
            </a:r>
            <a:r>
              <a:rPr lang="en-GB" dirty="0" err="1"/>
              <a:t>FinBERT</a:t>
            </a:r>
            <a:r>
              <a:rPr lang="en-GB" dirty="0"/>
              <a:t> sentiment + engineered price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LSTM/GRU + </a:t>
            </a:r>
            <a:r>
              <a:rPr lang="en-GB" dirty="0" err="1"/>
              <a:t>FinGPT</a:t>
            </a:r>
            <a:r>
              <a:rPr lang="en-GB" dirty="0"/>
              <a:t> + engineered price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D4B89-1E75-D9E4-5222-536304DE1F2D}"/>
              </a:ext>
            </a:extLst>
          </p:cNvPr>
          <p:cNvSpPr txBox="1"/>
          <p:nvPr/>
        </p:nvSpPr>
        <p:spPr>
          <a:xfrm>
            <a:off x="5229588" y="4799840"/>
            <a:ext cx="6105690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RMSE, MAE, directional accuracy for each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Best-performing model using </a:t>
            </a:r>
            <a:r>
              <a:rPr lang="en-GB" dirty="0" err="1"/>
              <a:t>FinGPT</a:t>
            </a:r>
            <a:r>
              <a:rPr lang="en-GB" dirty="0"/>
              <a:t>/</a:t>
            </a:r>
            <a:r>
              <a:rPr lang="en-GB" dirty="0" err="1"/>
              <a:t>FinBERT</a:t>
            </a:r>
            <a:r>
              <a:rPr lang="en-GB" dirty="0"/>
              <a:t> + prediction models + features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Visual: Model comparison table and performance bar chart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63904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tribu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4400" dirty="0"/>
              <a:t>Contributions</a:t>
            </a:r>
            <a:r>
              <a:rPr lang="en-US" sz="4400" dirty="0"/>
              <a:t> to Science (academic)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99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10"/>
          <p:cNvSpPr txBox="1"/>
          <p:nvPr/>
        </p:nvSpPr>
        <p:spPr>
          <a:xfrm>
            <a:off x="11413759" y="6198422"/>
            <a:ext cx="4697440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10</a:t>
            </a:r>
          </a:p>
        </p:txBody>
      </p:sp>
      <p:sp>
        <p:nvSpPr>
          <p:cNvPr id="201" name="Point 1…"/>
          <p:cNvSpPr txBox="1"/>
          <p:nvPr/>
        </p:nvSpPr>
        <p:spPr>
          <a:xfrm>
            <a:off x="390527" y="1924403"/>
            <a:ext cx="13204384" cy="4693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First Benchmarking of </a:t>
            </a:r>
            <a:r>
              <a:rPr lang="en-US" sz="1750" dirty="0" err="1"/>
              <a:t>FinBERT</a:t>
            </a:r>
            <a:r>
              <a:rPr lang="en-US" sz="1750" dirty="0"/>
              <a:t> vs </a:t>
            </a:r>
            <a:r>
              <a:rPr lang="en-US" sz="1750" dirty="0" err="1"/>
              <a:t>FinGPT</a:t>
            </a:r>
            <a:r>
              <a:rPr lang="en-US" sz="1750" dirty="0"/>
              <a:t> on Malaysian News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New study on comparing these two models for Malaysian financial and political contexts.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Contributes to research on domain adaptation and model transferability in NLP.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Multimodal Financial Prediction Framework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Integrate sentiment-analysis with time-series forecasting.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Improve the study of hybrid models that combine language understanding with numerical prediction.</a:t>
            </a:r>
            <a:endParaRPr sz="1750" dirty="0"/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Application of Transformer-based Models in Emerging Markets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Demonstrates how transformer models can be fine-tuned or adapted for non-Western financial markets.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further academic exploration in understudied economies like Malaysia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Localized Sentiment Annotation and Analysis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Creation of labelled dataset of Malaysian financial news with sentiment tags.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Support future research in regional NLP.</a:t>
            </a:r>
            <a:endParaRPr sz="175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ontributions"/>
          <p:cNvSpPr txBox="1">
            <a:spLocks noGrp="1"/>
          </p:cNvSpPr>
          <p:nvPr>
            <p:ph type="ctrTitle"/>
          </p:nvPr>
        </p:nvSpPr>
        <p:spPr>
          <a:xfrm>
            <a:off x="609600" y="1200150"/>
            <a:ext cx="10972800" cy="4578450"/>
          </a:xfrm>
          <a:prstGeom prst="rect">
            <a:avLst/>
          </a:prstGeom>
        </p:spPr>
        <p:txBody>
          <a:bodyPr anchor="t"/>
          <a:lstStyle/>
          <a:p>
            <a:pPr marL="207328" defTabSz="228600">
              <a:lnSpc>
                <a:spcPct val="100000"/>
              </a:lnSpc>
              <a:defRPr sz="7000" b="1" spc="0">
                <a:solidFill>
                  <a:srgbClr val="00546A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400" dirty="0"/>
              <a:t>Impact Statement (business/industry)</a:t>
            </a:r>
            <a:endParaRPr sz="4400" dirty="0"/>
          </a:p>
          <a:p>
            <a:pPr defTabSz="228600">
              <a:lnSpc>
                <a:spcPct val="100000"/>
              </a:lnSpc>
              <a:defRPr sz="1800" spc="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pic>
        <p:nvPicPr>
          <p:cNvPr id="199" name="UCL Branding" descr="UCL Bran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5456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10"/>
          <p:cNvSpPr txBox="1"/>
          <p:nvPr/>
        </p:nvSpPr>
        <p:spPr>
          <a:xfrm>
            <a:off x="11413759" y="6198422"/>
            <a:ext cx="4697440" cy="506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414655" marR="3938904" algn="l" defTabSz="457200">
              <a:lnSpc>
                <a:spcPct val="200000"/>
              </a:lnSpc>
              <a:defRPr sz="3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1750"/>
              <a:t>10</a:t>
            </a:r>
          </a:p>
        </p:txBody>
      </p:sp>
      <p:sp>
        <p:nvSpPr>
          <p:cNvPr id="201" name="Point 1…"/>
          <p:cNvSpPr txBox="1"/>
          <p:nvPr/>
        </p:nvSpPr>
        <p:spPr>
          <a:xfrm>
            <a:off x="609600" y="1935720"/>
            <a:ext cx="14015884" cy="5091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Improved Trading Strategies for Local Investors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Traders can use sentiment-enhanced models to make more informed buy/sell decisions.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Helps in identifying market-moving news faster than traditional methods.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FontTx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Enabling Real-time Market Monitoring Tools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Supports development of AI-driven dashboards that </a:t>
            </a:r>
            <a:r>
              <a:rPr lang="en-US" sz="1750" dirty="0" err="1"/>
              <a:t>summarise</a:t>
            </a:r>
            <a:r>
              <a:rPr lang="en-US" sz="1750" dirty="0"/>
              <a:t> daily sentiment and market outlook.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US" sz="1750" dirty="0"/>
              <a:t>Useful for retail investors, asset managers, and algorithmic trading desks in Malaysia.</a:t>
            </a:r>
            <a:endParaRPr lang="en-MY" sz="1750" dirty="0"/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Lower Barrier to Entry for Quantitative Methods in ASEAN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Provides a working template for low-cost, data-driven prediction systems.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financial startups or SMEs to adopt AI/NLP solutions without heavy infrastructure.</a:t>
            </a:r>
          </a:p>
          <a:p>
            <a:pPr marL="404177" marR="1969452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Advancing Financial Analytics in Malaysian Capital Markets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Encourage Bursa Malaysia and fintech firms to invest in AI-based analytics.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r>
              <a:rPr lang="en-MY" sz="1750" dirty="0"/>
              <a:t>Potential to improve market transparency, investor confidence, and data-driven decision making.</a:t>
            </a:r>
          </a:p>
          <a:p>
            <a:pPr marL="861377" marR="1969452" lvl="1" indent="-381000" defTabSz="228600">
              <a:spcAft>
                <a:spcPts val="1000"/>
              </a:spcAft>
              <a:buSzPct val="150000"/>
              <a:buChar char="•"/>
              <a:defRPr sz="3500">
                <a:latin typeface="Arial"/>
                <a:ea typeface="Arial"/>
                <a:cs typeface="Arial"/>
                <a:sym typeface="Arial"/>
              </a:defRPr>
            </a:pPr>
            <a:endParaRPr sz="1750" dirty="0"/>
          </a:p>
        </p:txBody>
      </p:sp>
    </p:spTree>
    <p:extLst>
      <p:ext uri="{BB962C8B-B14F-4D97-AF65-F5344CB8AC3E}">
        <p14:creationId xmlns:p14="http://schemas.microsoft.com/office/powerpoint/2010/main" val="272405297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954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Graphik Medium</vt:lpstr>
      <vt:lpstr>Graphik Semibold</vt:lpstr>
      <vt:lpstr>Wingdings</vt:lpstr>
      <vt:lpstr>Office Theme</vt:lpstr>
      <vt:lpstr>FinBERT vs FinGPT: Enhancing Malaysian Stock Predictions with News-Driven Insights  Anas Nik Adnan  Academic Supervisor: Prof Philip Treleaven Technical Advisor:      </vt:lpstr>
      <vt:lpstr>Research Motivations</vt:lpstr>
      <vt:lpstr>Industry Background and Publications </vt:lpstr>
      <vt:lpstr>Research Objectives</vt:lpstr>
      <vt:lpstr>Research Methodology &amp; Structure </vt:lpstr>
      <vt:lpstr>Exp 1: Sentiment Model Benchmarking </vt:lpstr>
      <vt:lpstr>Exp 2: Sentiment vs Stock Movement </vt:lpstr>
      <vt:lpstr>Exp 3: Stock Price Prediction Models </vt:lpstr>
      <vt:lpstr>Contributions to Science (academic) </vt:lpstr>
      <vt:lpstr>Impact Statement (business/industry)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Treleaven, Philip;Anas Nik Adnan</dc:creator>
  <cp:lastModifiedBy>Nik Anas</cp:lastModifiedBy>
  <cp:revision>11</cp:revision>
  <dcterms:created xsi:type="dcterms:W3CDTF">2023-05-17T17:08:02Z</dcterms:created>
  <dcterms:modified xsi:type="dcterms:W3CDTF">2026-01-04T21:04:50Z</dcterms:modified>
</cp:coreProperties>
</file>